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77011-8D33-7B85-84CC-6FD0245FF5D8}" v="89" dt="2025-03-11T09:32:39.768"/>
    <p1510:client id="{1785DEB7-9EA6-F5D5-63FD-C45D117854EE}" v="438" dt="2025-03-10T11:13:10.860"/>
    <p1510:client id="{47A2E48A-311C-AC7E-B139-3FBF5D1DB6A3}" v="20" dt="2025-03-10T04:53:25.155"/>
    <p1510:client id="{8C553AF1-1E71-8C34-AFE4-B59339B15FC4}" v="26" dt="2025-03-09T15:29:20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Click to edit the notes format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&lt;header&gt;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&lt;date/time&gt;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buNone/>
            </a:pPr>
            <a:fld id="{916FCBEE-C72A-4BC5-96F4-C8F06B7545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8837B1-0771-4ED0-A336-B045099C92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GB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55A88D-3E9B-4B20-A560-74809CBC82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39F388-1E95-4503-B0A2-D148BD4B88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28AB09-4456-46D1-B4DC-23B754B84F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D6158-B3EA-4455-9C48-E8B1CC465E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0520D-B2CF-4553-A807-1427BD008F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 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D4AFB0-00E5-4E02-B8E2-D9006FA816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5549B8-BA33-4105-98BF-6296791048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5F0B78-01B5-49D4-A475-B5EA0B9F92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A22F79-FAE7-4A6D-B6EB-5432EC1DB1A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2324E-8363-4D30-9671-8B905E1F3D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D509F9-257A-4B04-9632-5AE2573E24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20000"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A3B0FD1-0B41-ACB5-0BAC-163FFFB5979E}"/>
              </a:ext>
            </a:extLst>
          </p:cNvPr>
          <p:cNvSpPr/>
          <p:nvPr/>
        </p:nvSpPr>
        <p:spPr>
          <a:xfrm>
            <a:off x="8229409" y="5509439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DBCAAD-CFE7-A60C-800F-577C20B4B890}"/>
              </a:ext>
            </a:extLst>
          </p:cNvPr>
          <p:cNvSpPr/>
          <p:nvPr/>
        </p:nvSpPr>
        <p:spPr>
          <a:xfrm>
            <a:off x="7259592" y="550944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2D24C3D-9103-9D92-341B-EF91983F905E}"/>
              </a:ext>
            </a:extLst>
          </p:cNvPr>
          <p:cNvSpPr/>
          <p:nvPr/>
        </p:nvSpPr>
        <p:spPr>
          <a:xfrm>
            <a:off x="3475568" y="5509439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789832A-531A-D76F-80E4-D3C24708D089}"/>
              </a:ext>
            </a:extLst>
          </p:cNvPr>
          <p:cNvSpPr/>
          <p:nvPr/>
        </p:nvSpPr>
        <p:spPr>
          <a:xfrm>
            <a:off x="2577446" y="4736045"/>
            <a:ext cx="2839851" cy="295352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702AC17-F9E1-E52C-EEFA-21188CE52C87}"/>
              </a:ext>
            </a:extLst>
          </p:cNvPr>
          <p:cNvSpPr/>
          <p:nvPr/>
        </p:nvSpPr>
        <p:spPr>
          <a:xfrm>
            <a:off x="5371909" y="4799394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chemeClr val="accent5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C23A133-B058-1658-848A-377A375CC9F0}"/>
              </a:ext>
            </a:extLst>
          </p:cNvPr>
          <p:cNvSpPr/>
          <p:nvPr/>
        </p:nvSpPr>
        <p:spPr>
          <a:xfrm>
            <a:off x="7322628" y="4744704"/>
            <a:ext cx="943511" cy="286693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515267-A87E-7062-8DE3-5EF895B23A9A}"/>
              </a:ext>
            </a:extLst>
          </p:cNvPr>
          <p:cNvSpPr/>
          <p:nvPr/>
        </p:nvSpPr>
        <p:spPr>
          <a:xfrm>
            <a:off x="3477992" y="4736046"/>
            <a:ext cx="1939306" cy="295352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691692C-638C-C4B1-57BD-A48A61B907BB}"/>
              </a:ext>
            </a:extLst>
          </p:cNvPr>
          <p:cNvSpPr/>
          <p:nvPr/>
        </p:nvSpPr>
        <p:spPr>
          <a:xfrm>
            <a:off x="3522463" y="5524186"/>
            <a:ext cx="960905" cy="221015"/>
          </a:xfrm>
          <a:custGeom>
            <a:avLst/>
            <a:gdLst/>
            <a:ahLst/>
            <a:cxnLst/>
            <a:rect l="l" t="t" r="r" b="b"/>
            <a:pathLst>
              <a:path w="567368" h="226600">
                <a:moveTo>
                  <a:pt x="0" y="0"/>
                </a:moveTo>
                <a:lnTo>
                  <a:pt x="0" y="154421"/>
                </a:lnTo>
                <a:lnTo>
                  <a:pt x="567368" y="154421"/>
                </a:lnTo>
                <a:lnTo>
                  <a:pt x="567368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54160" y="329040"/>
            <a:ext cx="1193760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WORK BREAKDOWN STRUCTURE – </a:t>
            </a: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IP25 Live Project Deliverables– </a:t>
            </a: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‘Machine Learning’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Freeform: Shape 76"/>
          <p:cNvSpPr/>
          <p:nvPr/>
        </p:nvSpPr>
        <p:spPr>
          <a:xfrm>
            <a:off x="11298960" y="406656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8" name="Freeform: Shape 77"/>
          <p:cNvSpPr/>
          <p:nvPr/>
        </p:nvSpPr>
        <p:spPr>
          <a:xfrm>
            <a:off x="6172200" y="3345120"/>
            <a:ext cx="5172120" cy="226080"/>
          </a:xfrm>
          <a:custGeom>
            <a:avLst/>
            <a:gdLst/>
            <a:ahLst/>
            <a:cxnLst/>
            <a:rect l="l" t="t" r="r" b="b"/>
            <a:pathLst>
              <a:path w="5172442" h="226600">
                <a:moveTo>
                  <a:pt x="0" y="0"/>
                </a:moveTo>
                <a:lnTo>
                  <a:pt x="0" y="154421"/>
                </a:lnTo>
                <a:lnTo>
                  <a:pt x="5172442" y="154421"/>
                </a:lnTo>
                <a:lnTo>
                  <a:pt x="5172442" y="226600"/>
                </a:lnTo>
              </a:path>
            </a:pathLst>
          </a:custGeom>
          <a:noFill/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79" name="Freeform: Shape 78"/>
          <p:cNvSpPr/>
          <p:nvPr/>
        </p:nvSpPr>
        <p:spPr>
          <a:xfrm>
            <a:off x="10233360" y="478800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0" name="Freeform: Shape 79"/>
          <p:cNvSpPr/>
          <p:nvPr/>
        </p:nvSpPr>
        <p:spPr>
          <a:xfrm>
            <a:off x="7844040" y="4066560"/>
            <a:ext cx="2434680" cy="226080"/>
          </a:xfrm>
          <a:custGeom>
            <a:avLst/>
            <a:gdLst/>
            <a:ahLst/>
            <a:cxnLst/>
            <a:rect l="l" t="t" r="r" b="b"/>
            <a:pathLst>
              <a:path w="2434973" h="226600">
                <a:moveTo>
                  <a:pt x="0" y="0"/>
                </a:moveTo>
                <a:lnTo>
                  <a:pt x="0" y="154421"/>
                </a:lnTo>
                <a:lnTo>
                  <a:pt x="2434973" y="154421"/>
                </a:lnTo>
                <a:lnTo>
                  <a:pt x="2434973" y="226600"/>
                </a:lnTo>
              </a:path>
            </a:pathLst>
          </a:custGeom>
          <a:noFill/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1" name="Freeform: Shape 80"/>
          <p:cNvSpPr/>
          <p:nvPr/>
        </p:nvSpPr>
        <p:spPr>
          <a:xfrm>
            <a:off x="9172440" y="478800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2" name="Freeform: Shape 81"/>
          <p:cNvSpPr/>
          <p:nvPr/>
        </p:nvSpPr>
        <p:spPr>
          <a:xfrm>
            <a:off x="7844040" y="4066560"/>
            <a:ext cx="1373760" cy="226080"/>
          </a:xfrm>
          <a:custGeom>
            <a:avLst/>
            <a:gdLst/>
            <a:ahLst/>
            <a:cxnLst/>
            <a:rect l="l" t="t" r="r" b="b"/>
            <a:pathLst>
              <a:path w="1374168" h="226600">
                <a:moveTo>
                  <a:pt x="0" y="0"/>
                </a:moveTo>
                <a:lnTo>
                  <a:pt x="0" y="154421"/>
                </a:lnTo>
                <a:lnTo>
                  <a:pt x="1374168" y="154421"/>
                </a:lnTo>
                <a:lnTo>
                  <a:pt x="1374168" y="226600"/>
                </a:lnTo>
              </a:path>
            </a:pathLst>
          </a:custGeom>
          <a:noFill/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4" name="Freeform: Shape 83"/>
          <p:cNvSpPr/>
          <p:nvPr/>
        </p:nvSpPr>
        <p:spPr>
          <a:xfrm flipH="1">
            <a:off x="6395267" y="5509440"/>
            <a:ext cx="909534" cy="226080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0" y="0"/>
                </a:moveTo>
                <a:lnTo>
                  <a:pt x="0" y="154421"/>
                </a:lnTo>
                <a:lnTo>
                  <a:pt x="476142" y="154421"/>
                </a:lnTo>
                <a:lnTo>
                  <a:pt x="476142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5" name="Freeform: Shape 84"/>
          <p:cNvSpPr/>
          <p:nvPr/>
        </p:nvSpPr>
        <p:spPr>
          <a:xfrm>
            <a:off x="5417090" y="5509440"/>
            <a:ext cx="1887351" cy="226080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7" name="Freeform: Shape 86"/>
          <p:cNvSpPr/>
          <p:nvPr/>
        </p:nvSpPr>
        <p:spPr>
          <a:xfrm>
            <a:off x="8220240" y="478800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88" name="Freeform: Shape 87"/>
          <p:cNvSpPr/>
          <p:nvPr/>
        </p:nvSpPr>
        <p:spPr>
          <a:xfrm>
            <a:off x="7844040" y="4066560"/>
            <a:ext cx="421560" cy="226080"/>
          </a:xfrm>
          <a:custGeom>
            <a:avLst/>
            <a:gdLst/>
            <a:ahLst/>
            <a:cxnLst/>
            <a:rect l="l" t="t" r="r" b="b"/>
            <a:pathLst>
              <a:path w="421883" h="226600">
                <a:moveTo>
                  <a:pt x="0" y="0"/>
                </a:moveTo>
                <a:lnTo>
                  <a:pt x="0" y="154421"/>
                </a:lnTo>
                <a:lnTo>
                  <a:pt x="421883" y="154421"/>
                </a:lnTo>
                <a:lnTo>
                  <a:pt x="421883" y="226600"/>
                </a:lnTo>
              </a:path>
            </a:pathLst>
          </a:custGeom>
          <a:noFill/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1" name="Freeform: Shape 90"/>
          <p:cNvSpPr/>
          <p:nvPr/>
        </p:nvSpPr>
        <p:spPr>
          <a:xfrm>
            <a:off x="2531728" y="5518099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3" name="Freeform: Shape 92"/>
          <p:cNvSpPr/>
          <p:nvPr/>
        </p:nvSpPr>
        <p:spPr>
          <a:xfrm>
            <a:off x="4473788" y="4744705"/>
            <a:ext cx="943511" cy="286693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4" name="Freeform: Shape 93"/>
          <p:cNvSpPr/>
          <p:nvPr/>
        </p:nvSpPr>
        <p:spPr>
          <a:xfrm>
            <a:off x="5409000" y="4066560"/>
            <a:ext cx="2434680" cy="226080"/>
          </a:xfrm>
          <a:custGeom>
            <a:avLst/>
            <a:gdLst/>
            <a:ahLst/>
            <a:cxnLst/>
            <a:rect l="l" t="t" r="r" b="b"/>
            <a:pathLst>
              <a:path w="2434973" h="226600">
                <a:moveTo>
                  <a:pt x="2434973" y="0"/>
                </a:moveTo>
                <a:lnTo>
                  <a:pt x="2434973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5" name="Freeform: Shape 94"/>
          <p:cNvSpPr/>
          <p:nvPr/>
        </p:nvSpPr>
        <p:spPr>
          <a:xfrm>
            <a:off x="6172200" y="3345120"/>
            <a:ext cx="1671480" cy="226080"/>
          </a:xfrm>
          <a:custGeom>
            <a:avLst/>
            <a:gdLst/>
            <a:ahLst/>
            <a:cxnLst/>
            <a:rect l="l" t="t" r="r" b="b"/>
            <a:pathLst>
              <a:path w="1671873" h="226600">
                <a:moveTo>
                  <a:pt x="0" y="0"/>
                </a:moveTo>
                <a:lnTo>
                  <a:pt x="0" y="154421"/>
                </a:lnTo>
                <a:lnTo>
                  <a:pt x="1671873" y="154421"/>
                </a:lnTo>
                <a:lnTo>
                  <a:pt x="1671873" y="226600"/>
                </a:lnTo>
              </a:path>
            </a:pathLst>
          </a:custGeom>
          <a:noFill/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6" name="Freeform: Shape 95"/>
          <p:cNvSpPr/>
          <p:nvPr/>
        </p:nvSpPr>
        <p:spPr>
          <a:xfrm>
            <a:off x="3504600" y="4066560"/>
            <a:ext cx="951840" cy="226080"/>
          </a:xfrm>
          <a:custGeom>
            <a:avLst/>
            <a:gdLst/>
            <a:ahLst/>
            <a:cxnLst/>
            <a:rect l="l" t="t" r="r" b="b"/>
            <a:pathLst>
              <a:path w="952285" h="226600">
                <a:moveTo>
                  <a:pt x="0" y="0"/>
                </a:moveTo>
                <a:lnTo>
                  <a:pt x="0" y="154421"/>
                </a:lnTo>
                <a:lnTo>
                  <a:pt x="952285" y="154421"/>
                </a:lnTo>
                <a:lnTo>
                  <a:pt x="952285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7" name="Freeform: Shape 96"/>
          <p:cNvSpPr/>
          <p:nvPr/>
        </p:nvSpPr>
        <p:spPr>
          <a:xfrm>
            <a:off x="3458880" y="4066560"/>
            <a:ext cx="91080" cy="226080"/>
          </a:xfrm>
          <a:custGeom>
            <a:avLst/>
            <a:gdLst/>
            <a:ahLst/>
            <a:cxnLst/>
            <a:rect l="l" t="t" r="r" b="b"/>
            <a:pathLst>
              <a:path w="91440" h="226600">
                <a:moveTo>
                  <a:pt x="45720" y="0"/>
                </a:moveTo>
                <a:lnTo>
                  <a:pt x="45720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8" name="Freeform: Shape 97"/>
          <p:cNvSpPr/>
          <p:nvPr/>
        </p:nvSpPr>
        <p:spPr>
          <a:xfrm>
            <a:off x="2552040" y="4066560"/>
            <a:ext cx="951840" cy="226080"/>
          </a:xfrm>
          <a:custGeom>
            <a:avLst/>
            <a:gdLst/>
            <a:ahLst/>
            <a:cxnLst/>
            <a:rect l="l" t="t" r="r" b="b"/>
            <a:pathLst>
              <a:path w="952285" h="226600">
                <a:moveTo>
                  <a:pt x="952285" y="0"/>
                </a:moveTo>
                <a:lnTo>
                  <a:pt x="952285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99" name="Freeform: Shape 98"/>
          <p:cNvSpPr/>
          <p:nvPr/>
        </p:nvSpPr>
        <p:spPr>
          <a:xfrm>
            <a:off x="3504600" y="3345120"/>
            <a:ext cx="2667240" cy="226080"/>
          </a:xfrm>
          <a:custGeom>
            <a:avLst/>
            <a:gdLst/>
            <a:ahLst/>
            <a:cxnLst/>
            <a:rect l="l" t="t" r="r" b="b"/>
            <a:pathLst>
              <a:path w="2667670" h="226600">
                <a:moveTo>
                  <a:pt x="2667670" y="0"/>
                </a:moveTo>
                <a:lnTo>
                  <a:pt x="2667670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0" name="Freeform: Shape 99"/>
          <p:cNvSpPr/>
          <p:nvPr/>
        </p:nvSpPr>
        <p:spPr>
          <a:xfrm>
            <a:off x="1123560" y="4066560"/>
            <a:ext cx="475920" cy="226080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0" y="0"/>
                </a:moveTo>
                <a:lnTo>
                  <a:pt x="0" y="154421"/>
                </a:lnTo>
                <a:lnTo>
                  <a:pt x="476142" y="154421"/>
                </a:lnTo>
                <a:lnTo>
                  <a:pt x="476142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1" name="Freeform: Shape 100"/>
          <p:cNvSpPr/>
          <p:nvPr/>
        </p:nvSpPr>
        <p:spPr>
          <a:xfrm>
            <a:off x="647640" y="4066560"/>
            <a:ext cx="475920" cy="226080"/>
          </a:xfrm>
          <a:custGeom>
            <a:avLst/>
            <a:gdLst/>
            <a:ahLst/>
            <a:cxnLst/>
            <a:rect l="l" t="t" r="r" b="b"/>
            <a:pathLst>
              <a:path w="476142" h="226600">
                <a:moveTo>
                  <a:pt x="476142" y="0"/>
                </a:moveTo>
                <a:lnTo>
                  <a:pt x="476142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2" name="Freeform: Shape 101"/>
          <p:cNvSpPr/>
          <p:nvPr/>
        </p:nvSpPr>
        <p:spPr>
          <a:xfrm>
            <a:off x="1123560" y="3345120"/>
            <a:ext cx="5047920" cy="226080"/>
          </a:xfrm>
          <a:custGeom>
            <a:avLst/>
            <a:gdLst/>
            <a:ahLst/>
            <a:cxnLst/>
            <a:rect l="l" t="t" r="r" b="b"/>
            <a:pathLst>
              <a:path w="5048383" h="226600">
                <a:moveTo>
                  <a:pt x="5048383" y="0"/>
                </a:moveTo>
                <a:lnTo>
                  <a:pt x="5048383" y="154421"/>
                </a:lnTo>
                <a:lnTo>
                  <a:pt x="0" y="154421"/>
                </a:lnTo>
                <a:lnTo>
                  <a:pt x="0" y="226600"/>
                </a:lnTo>
              </a:path>
            </a:pathLst>
          </a:custGeom>
          <a:noFill/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3" name="Rectangle: Rounded Corners 102"/>
          <p:cNvSpPr/>
          <p:nvPr/>
        </p:nvSpPr>
        <p:spPr>
          <a:xfrm>
            <a:off x="4371480" y="2076480"/>
            <a:ext cx="3600360" cy="1268280"/>
          </a:xfrm>
          <a:prstGeom prst="roundRect">
            <a:avLst>
              <a:gd name="adj" fmla="val 10000"/>
            </a:avLst>
          </a:prstGeom>
          <a:solidFill>
            <a:schemeClr val="accent2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4" name="Rectangle: Rounded Corners 103"/>
          <p:cNvSpPr/>
          <p:nvPr/>
        </p:nvSpPr>
        <p:spPr>
          <a:xfrm>
            <a:off x="4458240" y="2158560"/>
            <a:ext cx="3600360" cy="1268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273755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68760" rIns="68760" bIns="68760" numCol="1" spcCol="1440" anchor="ctr">
            <a:noAutofit/>
          </a:bodyPr>
          <a:lstStyle/>
          <a:p>
            <a:pPr algn="ctr" defTabSz="800280">
              <a:lnSpc>
                <a:spcPct val="90000"/>
              </a:lnSpc>
              <a:spcAft>
                <a:spcPts val="629"/>
              </a:spcAft>
              <a:tabLst>
                <a:tab pos="0" algn="l"/>
              </a:tabLst>
            </a:pPr>
            <a:r>
              <a:rPr lang="en-GB" b="1">
                <a:solidFill>
                  <a:srgbClr val="000000"/>
                </a:solidFill>
                <a:latin typeface="Calibri"/>
              </a:rPr>
              <a:t>Deploy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a</a:t>
            </a:r>
            <a:r>
              <a:rPr lang="en-GB" b="1">
                <a:solidFill>
                  <a:srgbClr val="000000"/>
                </a:solidFill>
                <a:latin typeface="Calibri"/>
              </a:rPr>
              <a:t> </a:t>
            </a:r>
            <a:endParaRPr lang="en-US">
              <a:solidFill>
                <a:srgbClr val="000000"/>
              </a:solidFill>
              <a:latin typeface="Noto Serif"/>
              <a:ea typeface="Noto Serif"/>
              <a:cs typeface="Noto Serif"/>
            </a:endParaRPr>
          </a:p>
          <a:p>
            <a:pPr algn="ctr" defTabSz="800280">
              <a:lnSpc>
                <a:spcPct val="90000"/>
              </a:lnSpc>
              <a:spcAft>
                <a:spcPts val="839"/>
              </a:spcAft>
              <a:tabLst>
                <a:tab pos="0" algn="l"/>
              </a:tabLst>
            </a:pPr>
            <a:r>
              <a:rPr lang="en-GB" sz="2400" b="1">
                <a:solidFill>
                  <a:srgbClr val="000000"/>
                </a:solidFill>
                <a:latin typeface="Calibri"/>
              </a:rPr>
              <a:t>'ML MODEL</a:t>
            </a: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’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"/>
              <a:ea typeface="Noto Serif"/>
              <a:cs typeface="Noto Serif"/>
            </a:endParaRPr>
          </a:p>
          <a:p>
            <a:pPr algn="ctr" defTabSz="800280">
              <a:lnSpc>
                <a:spcPct val="90000"/>
              </a:lnSpc>
              <a:spcAft>
                <a:spcPts val="629"/>
              </a:spcAft>
              <a:tabLst>
                <a:tab pos="0" algn="l"/>
              </a:tabLst>
            </a:pPr>
            <a:r>
              <a:rPr lang="en-GB" sz="1800" b="1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For career recommendation to </a:t>
            </a:r>
            <a:r>
              <a:rPr lang="en-GB" sz="18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college students</a:t>
            </a:r>
            <a:r>
              <a:rPr lang="en-GB" b="1">
                <a:solidFill>
                  <a:srgbClr val="000000"/>
                </a:solidFill>
                <a:latin typeface="Calibri"/>
              </a:rPr>
              <a:t> on Streamlit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5" name="Rectangle: Rounded Corners 104"/>
          <p:cNvSpPr/>
          <p:nvPr/>
        </p:nvSpPr>
        <p:spPr>
          <a:xfrm>
            <a:off x="610200" y="3571920"/>
            <a:ext cx="1027080" cy="494280"/>
          </a:xfrm>
          <a:prstGeom prst="roundRect">
            <a:avLst>
              <a:gd name="adj" fmla="val 10000"/>
            </a:avLst>
          </a:prstGeom>
          <a:solidFill>
            <a:schemeClr val="accent4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6" name="Rectangle: Rounded Corners 105"/>
          <p:cNvSpPr/>
          <p:nvPr/>
        </p:nvSpPr>
        <p:spPr>
          <a:xfrm>
            <a:off x="696600" y="3654000"/>
            <a:ext cx="10270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INITIATION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7" name="Rectangle: Rounded Corners 106"/>
          <p:cNvSpPr/>
          <p:nvPr/>
        </p:nvSpPr>
        <p:spPr>
          <a:xfrm>
            <a:off x="25812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8" name="Rectangle: Rounded Corners 107"/>
          <p:cNvSpPr/>
          <p:nvPr/>
        </p:nvSpPr>
        <p:spPr>
          <a:xfrm>
            <a:off x="34452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 Charter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09" name="Rectangle: Rounded Corners 108"/>
          <p:cNvSpPr/>
          <p:nvPr/>
        </p:nvSpPr>
        <p:spPr>
          <a:xfrm>
            <a:off x="121032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0" name="Rectangle: Rounded Corners 109"/>
          <p:cNvSpPr/>
          <p:nvPr/>
        </p:nvSpPr>
        <p:spPr>
          <a:xfrm>
            <a:off x="129672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SRS Document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1" name="Rectangle: Rounded Corners 110"/>
          <p:cNvSpPr/>
          <p:nvPr/>
        </p:nvSpPr>
        <p:spPr>
          <a:xfrm>
            <a:off x="3114720" y="3571920"/>
            <a:ext cx="820753" cy="494280"/>
          </a:xfrm>
          <a:prstGeom prst="roundRect">
            <a:avLst>
              <a:gd name="adj" fmla="val 10000"/>
            </a:avLst>
          </a:prstGeom>
          <a:solidFill>
            <a:schemeClr val="accent4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2" name="Rectangle: Rounded Corners 111"/>
          <p:cNvSpPr/>
          <p:nvPr/>
        </p:nvSpPr>
        <p:spPr>
          <a:xfrm>
            <a:off x="3201480" y="3654000"/>
            <a:ext cx="820753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PLANNING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3" name="Rectangle: Rounded Corners 112"/>
          <p:cNvSpPr/>
          <p:nvPr/>
        </p:nvSpPr>
        <p:spPr>
          <a:xfrm>
            <a:off x="216252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4" name="Rectangle: Rounded Corners 113"/>
          <p:cNvSpPr/>
          <p:nvPr/>
        </p:nvSpPr>
        <p:spPr>
          <a:xfrm>
            <a:off x="224928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WBS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5" name="Rectangle: Rounded Corners 114"/>
          <p:cNvSpPr/>
          <p:nvPr/>
        </p:nvSpPr>
        <p:spPr>
          <a:xfrm>
            <a:off x="311472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6" name="Rectangle: Rounded Corners 115"/>
          <p:cNvSpPr/>
          <p:nvPr/>
        </p:nvSpPr>
        <p:spPr>
          <a:xfrm>
            <a:off x="320148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Project Schedule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7" name="Rectangle: Rounded Corners 116"/>
          <p:cNvSpPr/>
          <p:nvPr/>
        </p:nvSpPr>
        <p:spPr>
          <a:xfrm>
            <a:off x="406728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18" name="Rectangle: Rounded Corners 117"/>
          <p:cNvSpPr/>
          <p:nvPr/>
        </p:nvSpPr>
        <p:spPr>
          <a:xfrm>
            <a:off x="415368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RAID Logs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19" name="Rectangle: Rounded Corners 118"/>
          <p:cNvSpPr/>
          <p:nvPr/>
        </p:nvSpPr>
        <p:spPr>
          <a:xfrm>
            <a:off x="7192800" y="3571920"/>
            <a:ext cx="1301760" cy="494280"/>
          </a:xfrm>
          <a:prstGeom prst="roundRect">
            <a:avLst>
              <a:gd name="adj" fmla="val 10000"/>
            </a:avLst>
          </a:prstGeom>
          <a:solidFill>
            <a:schemeClr val="accent4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0" name="Rectangle: Rounded Corners 119"/>
          <p:cNvSpPr/>
          <p:nvPr/>
        </p:nvSpPr>
        <p:spPr>
          <a:xfrm>
            <a:off x="7279560" y="3654000"/>
            <a:ext cx="130176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EXECUTION &amp; MONITORING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1" name="Rectangle: Rounded Corners 120"/>
          <p:cNvSpPr/>
          <p:nvPr/>
        </p:nvSpPr>
        <p:spPr>
          <a:xfrm>
            <a:off x="501948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22" name="Rectangle: Rounded Corners 121"/>
          <p:cNvSpPr/>
          <p:nvPr/>
        </p:nvSpPr>
        <p:spPr>
          <a:xfrm>
            <a:off x="510588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3" name="Rectangle: Rounded Corners 122"/>
          <p:cNvSpPr/>
          <p:nvPr/>
        </p:nvSpPr>
        <p:spPr>
          <a:xfrm>
            <a:off x="2200756" y="5023099"/>
            <a:ext cx="753383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24" name="Rectangle: Rounded Corners 123"/>
          <p:cNvSpPr/>
          <p:nvPr/>
        </p:nvSpPr>
        <p:spPr>
          <a:xfrm>
            <a:off x="2287156" y="5105539"/>
            <a:ext cx="753383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 Collection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27" name="Rectangle: Rounded Corners 126"/>
          <p:cNvSpPr/>
          <p:nvPr/>
        </p:nvSpPr>
        <p:spPr>
          <a:xfrm>
            <a:off x="2179269" y="574453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28" name="Rectangle: Rounded Corners 127"/>
          <p:cNvSpPr/>
          <p:nvPr/>
        </p:nvSpPr>
        <p:spPr>
          <a:xfrm>
            <a:off x="2266029" y="582697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Download Data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1" name="Rectangle: Rounded Corners 130"/>
          <p:cNvSpPr/>
          <p:nvPr/>
        </p:nvSpPr>
        <p:spPr>
          <a:xfrm>
            <a:off x="3136317" y="5014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2" name="Rectangle: Rounded Corners 131"/>
          <p:cNvSpPr/>
          <p:nvPr/>
        </p:nvSpPr>
        <p:spPr>
          <a:xfrm>
            <a:off x="3222717" y="5096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Data Cleaning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3" name="Rectangle: Rounded Corners 132"/>
          <p:cNvSpPr/>
          <p:nvPr/>
        </p:nvSpPr>
        <p:spPr>
          <a:xfrm>
            <a:off x="787644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4" name="Rectangle: Rounded Corners 133"/>
          <p:cNvSpPr/>
          <p:nvPr/>
        </p:nvSpPr>
        <p:spPr>
          <a:xfrm>
            <a:off x="796284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Develop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5" name="Rectangle: Rounded Corners 134"/>
          <p:cNvSpPr/>
          <p:nvPr/>
        </p:nvSpPr>
        <p:spPr>
          <a:xfrm>
            <a:off x="7876440" y="5014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6" name="Rectangle: Rounded Corners 135"/>
          <p:cNvSpPr/>
          <p:nvPr/>
        </p:nvSpPr>
        <p:spPr>
          <a:xfrm>
            <a:off x="7962840" y="5096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Building App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37" name="Rectangle: Rounded Corners 136"/>
          <p:cNvSpPr/>
          <p:nvPr/>
        </p:nvSpPr>
        <p:spPr>
          <a:xfrm>
            <a:off x="4084029" y="574453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38" name="Rectangle: Rounded Corners 137"/>
          <p:cNvSpPr/>
          <p:nvPr/>
        </p:nvSpPr>
        <p:spPr>
          <a:xfrm>
            <a:off x="4170429" y="582697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Fix Null Values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39" name="Rectangle: Rounded Corners 138"/>
          <p:cNvSpPr/>
          <p:nvPr/>
        </p:nvSpPr>
        <p:spPr>
          <a:xfrm>
            <a:off x="5044887" y="5735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0" name="Rectangle: Rounded Corners 139"/>
          <p:cNvSpPr/>
          <p:nvPr/>
        </p:nvSpPr>
        <p:spPr>
          <a:xfrm>
            <a:off x="5131287" y="581832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Training Base Models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1" name="Rectangle: Rounded Corners 140"/>
          <p:cNvSpPr/>
          <p:nvPr/>
        </p:nvSpPr>
        <p:spPr>
          <a:xfrm>
            <a:off x="5997087" y="5735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2" name="Rectangle: Rounded Corners 141"/>
          <p:cNvSpPr/>
          <p:nvPr/>
        </p:nvSpPr>
        <p:spPr>
          <a:xfrm>
            <a:off x="6083847" y="581832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Hyper-parameter Tuning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3" name="Rectangle: Rounded Corners 142"/>
          <p:cNvSpPr/>
          <p:nvPr/>
        </p:nvSpPr>
        <p:spPr>
          <a:xfrm>
            <a:off x="6949287" y="5735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4" name="Rectangle: Rounded Corners 143"/>
          <p:cNvSpPr/>
          <p:nvPr/>
        </p:nvSpPr>
        <p:spPr>
          <a:xfrm>
            <a:off x="7036047" y="581832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Finalizing Model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5" name="Rectangle: Rounded Corners 144"/>
          <p:cNvSpPr/>
          <p:nvPr/>
        </p:nvSpPr>
        <p:spPr>
          <a:xfrm>
            <a:off x="882864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6" name="Rectangle: Rounded Corners 145"/>
          <p:cNvSpPr/>
          <p:nvPr/>
        </p:nvSpPr>
        <p:spPr>
          <a:xfrm>
            <a:off x="891504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47" name="Rectangle: Rounded Corners 146"/>
          <p:cNvSpPr/>
          <p:nvPr/>
        </p:nvSpPr>
        <p:spPr>
          <a:xfrm>
            <a:off x="8828640" y="5014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48" name="Rectangle: Rounded Corners 147"/>
          <p:cNvSpPr/>
          <p:nvPr/>
        </p:nvSpPr>
        <p:spPr>
          <a:xfrm>
            <a:off x="8915040" y="509688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Manual Testing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49" name="Rectangle: Rounded Corners 148"/>
          <p:cNvSpPr/>
          <p:nvPr/>
        </p:nvSpPr>
        <p:spPr>
          <a:xfrm>
            <a:off x="9889200" y="429336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0" name="Rectangle: Rounded Corners 149"/>
          <p:cNvSpPr/>
          <p:nvPr/>
        </p:nvSpPr>
        <p:spPr>
          <a:xfrm>
            <a:off x="9975960" y="437544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66666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Deploy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1" name="Rectangle: Rounded Corners 150"/>
          <p:cNvSpPr/>
          <p:nvPr/>
        </p:nvSpPr>
        <p:spPr>
          <a:xfrm>
            <a:off x="9780840" y="5014440"/>
            <a:ext cx="99576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2" name="Rectangle: Rounded Corners 151"/>
          <p:cNvSpPr/>
          <p:nvPr/>
        </p:nvSpPr>
        <p:spPr>
          <a:xfrm>
            <a:off x="9867600" y="5096880"/>
            <a:ext cx="99576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Deploy App</a:t>
            </a:r>
            <a:r>
              <a:rPr lang="en-GB" sz="1200" b="0" u="none" strike="noStrike" dirty="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GB" sz="1200" dirty="0">
                <a:solidFill>
                  <a:srgbClr val="000000"/>
                </a:solidFill>
                <a:latin typeface="Calibri"/>
              </a:rPr>
              <a:t>on </a:t>
            </a:r>
            <a:r>
              <a:rPr lang="en-GB" sz="1200" dirty="0" err="1">
                <a:solidFill>
                  <a:srgbClr val="000000"/>
                </a:solidFill>
                <a:latin typeface="Calibri"/>
              </a:rPr>
              <a:t>Streamlit</a:t>
            </a:r>
            <a:endParaRPr lang="en-GB" sz="1200" b="0" u="none" strike="noStrike" dirty="0" err="1">
              <a:effectLst/>
              <a:uFillTx/>
              <a:ea typeface="Calibri"/>
              <a:cs typeface="Calibri"/>
            </a:endParaRPr>
          </a:p>
        </p:txBody>
      </p:sp>
      <p:sp>
        <p:nvSpPr>
          <p:cNvPr id="153" name="Rectangle: Rounded Corners 152"/>
          <p:cNvSpPr/>
          <p:nvPr/>
        </p:nvSpPr>
        <p:spPr>
          <a:xfrm>
            <a:off x="10954800" y="357192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4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4" name="Rectangle: Rounded Corners 153"/>
          <p:cNvSpPr/>
          <p:nvPr/>
        </p:nvSpPr>
        <p:spPr>
          <a:xfrm>
            <a:off x="11041560" y="3654000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FFB923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CLOSURE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155" name="Rectangle: Rounded Corners 154"/>
          <p:cNvSpPr/>
          <p:nvPr/>
        </p:nvSpPr>
        <p:spPr>
          <a:xfrm>
            <a:off x="10841760" y="4293360"/>
            <a:ext cx="1005480" cy="648360"/>
          </a:xfrm>
          <a:prstGeom prst="roundRect">
            <a:avLst>
              <a:gd name="adj" fmla="val 10000"/>
            </a:avLst>
          </a:prstGeom>
          <a:solidFill>
            <a:schemeClr val="accent5">
              <a:hueOff val="0"/>
              <a:satOff val="0"/>
              <a:lumOff val="0"/>
              <a:alphaOff val="0"/>
            </a:schemeClr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56" name="Rectangle: Rounded Corners 155"/>
          <p:cNvSpPr/>
          <p:nvPr/>
        </p:nvSpPr>
        <p:spPr>
          <a:xfrm>
            <a:off x="10928160" y="4375440"/>
            <a:ext cx="1005480" cy="64836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Lessons Learnt, Project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pic>
        <p:nvPicPr>
          <p:cNvPr id="157" name="Picture 4" descr="Chart, pie chart&#10;&#10;Description automatically generated"/>
          <p:cNvPicPr/>
          <p:nvPr/>
        </p:nvPicPr>
        <p:blipFill>
          <a:blip r:embed="rId3"/>
          <a:stretch/>
        </p:blipFill>
        <p:spPr>
          <a:xfrm>
            <a:off x="10773360" y="204840"/>
            <a:ext cx="121788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2A29C7-9720-41C7-95C7-B64349E57564}"/>
              </a:ext>
            </a:extLst>
          </p:cNvPr>
          <p:cNvSpPr/>
          <p:nvPr/>
        </p:nvSpPr>
        <p:spPr>
          <a:xfrm>
            <a:off x="4096436" y="502586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DCD9A4-39B9-9897-624E-FF44024B064D}"/>
              </a:ext>
            </a:extLst>
          </p:cNvPr>
          <p:cNvSpPr/>
          <p:nvPr/>
        </p:nvSpPr>
        <p:spPr>
          <a:xfrm>
            <a:off x="4172053" y="5097527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EDA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5E530FF-1231-D568-D3C1-C0FC3CB7F7F9}"/>
              </a:ext>
            </a:extLst>
          </p:cNvPr>
          <p:cNvSpPr/>
          <p:nvPr/>
        </p:nvSpPr>
        <p:spPr>
          <a:xfrm>
            <a:off x="3131768" y="5740944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20401B-D5A0-791C-94F8-AAACAA935F3A}"/>
              </a:ext>
            </a:extLst>
          </p:cNvPr>
          <p:cNvSpPr/>
          <p:nvPr/>
        </p:nvSpPr>
        <p:spPr>
          <a:xfrm>
            <a:off x="3218528" y="5823384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Remove Duplicates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07F250-A97B-15D4-06BC-CDD275BC0E3D}"/>
              </a:ext>
            </a:extLst>
          </p:cNvPr>
          <p:cNvSpPr/>
          <p:nvPr/>
        </p:nvSpPr>
        <p:spPr>
          <a:xfrm>
            <a:off x="5031617" y="5025868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3AD019-20E6-8AAA-8B78-5121A136BC20}"/>
              </a:ext>
            </a:extLst>
          </p:cNvPr>
          <p:cNvSpPr/>
          <p:nvPr/>
        </p:nvSpPr>
        <p:spPr>
          <a:xfrm>
            <a:off x="5107234" y="5097526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Preparing Train/Test Data</a:t>
            </a:r>
            <a:endParaRPr lang="en-GB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694986-B1B1-0FF8-0447-80EC09104015}"/>
              </a:ext>
            </a:extLst>
          </p:cNvPr>
          <p:cNvSpPr/>
          <p:nvPr/>
        </p:nvSpPr>
        <p:spPr>
          <a:xfrm>
            <a:off x="6932599" y="501443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D02446-46C5-46DE-45A0-5AE36C2BA8A6}"/>
              </a:ext>
            </a:extLst>
          </p:cNvPr>
          <p:cNvSpPr/>
          <p:nvPr/>
        </p:nvSpPr>
        <p:spPr>
          <a:xfrm>
            <a:off x="7018999" y="509687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EA7317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</a:rPr>
              <a:t>Model Training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0464C74-3220-24B4-3B0E-95E6E3620B19}"/>
              </a:ext>
            </a:extLst>
          </p:cNvPr>
          <p:cNvSpPr/>
          <p:nvPr/>
        </p:nvSpPr>
        <p:spPr>
          <a:xfrm>
            <a:off x="7893127" y="573587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rgbClr val="FFFFFF">
                <a:hueOff val="0"/>
                <a:satOff val="0"/>
                <a:lumOff val="0"/>
                <a:alphaOff val="0"/>
              </a:srgb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Noto Serif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CB754B-6207-A85D-E98F-47F72B761892}"/>
              </a:ext>
            </a:extLst>
          </p:cNvPr>
          <p:cNvSpPr/>
          <p:nvPr/>
        </p:nvSpPr>
        <p:spPr>
          <a:xfrm>
            <a:off x="7979887" y="5818319"/>
            <a:ext cx="778680" cy="494280"/>
          </a:xfrm>
          <a:prstGeom prst="roundRect">
            <a:avLst>
              <a:gd name="adj" fmla="val 10000"/>
            </a:avLst>
          </a:prstGeom>
          <a:solidFill>
            <a:schemeClr val="lt1">
              <a:alpha val="90000"/>
              <a:hueOff val="0"/>
              <a:satOff val="0"/>
              <a:lumOff val="0"/>
              <a:alphaOff val="0"/>
            </a:schemeClr>
          </a:solidFill>
          <a:ln>
            <a:solidFill>
              <a:srgbClr val="3CA5D9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720" rIns="45720" bIns="45720" numCol="1" spcCol="1440" anchor="ctr">
            <a:noAutofit/>
          </a:bodyPr>
          <a:lstStyle/>
          <a:p>
            <a:pPr algn="ctr" defTabSz="533520">
              <a:lnSpc>
                <a:spcPct val="90000"/>
              </a:lnSpc>
              <a:spcAft>
                <a:spcPts val="420"/>
              </a:spcAft>
              <a:tabLst>
                <a:tab pos="0" algn="l"/>
              </a:tabLst>
            </a:pPr>
            <a:r>
              <a:rPr lang="en-GB" sz="1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App Code</a:t>
            </a:r>
            <a:endParaRPr lang="en-GB" sz="1200" b="0" u="none" strike="noStrike" dirty="0"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6743</TotalTime>
  <Words>388</Words>
  <Application>Microsoft Office PowerPoint</Application>
  <PresentationFormat>Widescreen</PresentationFormat>
  <Paragraphs>79</Paragraphs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WORK BREAKDOWN STRUCTURE –  IP25 Live Project Deliverables–  ‘Machine Learning’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subject/>
  <dc:creator>Welcome CC</dc:creator>
  <dc:description/>
  <cp:lastModifiedBy/>
  <cp:revision>461</cp:revision>
  <dcterms:created xsi:type="dcterms:W3CDTF">2023-07-15T03:43:48Z</dcterms:created>
  <dcterms:modified xsi:type="dcterms:W3CDTF">2025-05-30T09:05:27Z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  <property fmtid="{D5CDD505-2E9C-101B-9397-08002B2CF9AE}" pid="4" name="Notes">
    <vt:i4>2</vt:i4>
  </property>
  <property fmtid="{D5CDD505-2E9C-101B-9397-08002B2CF9AE}" pid="5" name="PresentationFormat">
    <vt:lpwstr>Widescreen</vt:lpwstr>
  </property>
  <property fmtid="{D5CDD505-2E9C-101B-9397-08002B2CF9AE}" pid="6" name="Slides">
    <vt:i4>4</vt:i4>
  </property>
</Properties>
</file>